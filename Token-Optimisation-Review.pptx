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00000" y="2200000"/>
            <a:ext cx="16488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TOKEN OPTIMISATION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3600000"/>
            <a:ext cx="16488000" cy="1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9E2F3"/>
                </a:solidFill>
              </a:defRPr>
            </a:pPr>
            <a:r>
              <a:t>Cost-Efficient LLM Routing for Code-Mixed (Hinglish) Queries — compression, sweet-spot calibration and learned cascade routing under a statistical quality guarantee.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6200000"/>
            <a:ext cx="16488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Tushar Saharan  •  Shivam Kumar  •  Sahil Gupta</a:t>
            </a:r>
          </a:p>
          <a:p>
            <a:pPr algn="ctr">
              <a:defRPr sz="1700" b="0">
                <a:solidFill>
                  <a:srgbClr val="FFFFFF"/>
                </a:solidFill>
              </a:defRPr>
            </a:pPr>
            <a:r>
              <a:t>Guide: Sonali Agrawal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0000"/>
            <a:ext cx="1688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ECCEA"/>
                </a:solidFill>
              </a:defRPr>
            </a:pPr>
            <a:r>
              <a:t>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600000"/>
            <a:ext cx="168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Research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87000"/>
            <a:ext cx="1548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Token Optimisation  •  Guide: Sonali Agrawal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00000"/>
            <a:ext cx="16488000" cy="71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Tokenizer tax.</a:t>
            </a:r>
            <a:r>
              <a:rPr sz="1700">
                <a:solidFill>
                  <a:srgbClr val="333333"/>
                </a:solidFill>
              </a:rPr>
              <a:t>  English-biased tokenizers inflate Hinglish prompts 1.6–2.5x — users pay more per query.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Over-provisioning.</a:t>
            </a:r>
            <a:r>
              <a:rPr sz="1700">
                <a:solidFill>
                  <a:srgbClr val="333333"/>
                </a:solidFill>
              </a:rPr>
              <a:t>  Products route 100% of traffic to flagship models though 70–80% of routine queries suit cheap open models.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The gap.</a:t>
            </a:r>
            <a:r>
              <a:rPr sz="1700">
                <a:solidFill>
                  <a:srgbClr val="333333"/>
                </a:solidFill>
              </a:rPr>
              <a:t>  No calibrated, cost-aware router exists for code-mixed text: naive routing gambles quality, static rules waste money.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0000"/>
            <a:ext cx="1688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ECCEA"/>
                </a:solidFill>
              </a:defRPr>
            </a:pPr>
            <a:r>
              <a:t>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600000"/>
            <a:ext cx="168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87000"/>
            <a:ext cx="1548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Token Optimisation  •  Guide: Sonali Agrawal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0000" y="2400000"/>
            <a:ext cx="5229333" cy="36000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</a:rPr>
              <a:t>~35%
Token cut</a:t>
            </a:r>
          </a:p>
          <a:p>
            <a:pPr algn="ctr"/>
            <a:r>
              <a:rPr sz="1400">
                <a:solidFill>
                  <a:srgbClr val="333333"/>
                </a:solidFill>
              </a:rPr>
              <a:t>Lossless prompt compression with entity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29333" y="2400000"/>
            <a:ext cx="5229333" cy="36000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</a:rPr>
              <a:t>70%+
Cheap routing</a:t>
            </a:r>
          </a:p>
          <a:p>
            <a:pPr algn="ctr"/>
            <a:r>
              <a:rPr sz="1400">
                <a:solidFill>
                  <a:srgbClr val="333333"/>
                </a:solidFill>
              </a:rPr>
              <a:t>Cascade cheap 20B vs premium 120B by difficulty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58666" y="2400000"/>
            <a:ext cx="5229333" cy="36000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</a:rPr>
              <a:t>≤ 5%
Error bound</a:t>
            </a:r>
          </a:p>
          <a:p>
            <a:pPr algn="ctr"/>
            <a:r>
              <a:rPr sz="1400">
                <a:solidFill>
                  <a:srgbClr val="333333"/>
                </a:solidFill>
              </a:rPr>
              <a:t>Learn-Then-Test guarantee at 95% confidence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0000"/>
            <a:ext cx="1688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ECCEA"/>
                </a:solidFill>
              </a:defRPr>
            </a:pPr>
            <a:r>
              <a:t>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600000"/>
            <a:ext cx="168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Background &amp; 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87000"/>
            <a:ext cx="1548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Token Optimisation  •  Guide: Sonali Agrawal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00000"/>
            <a:ext cx="16488000" cy="71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Cascade routing.</a:t>
            </a:r>
            <a:r>
              <a:rPr sz="1700">
                <a:solidFill>
                  <a:srgbClr val="333333"/>
                </a:solidFill>
              </a:rPr>
              <a:t>  FrugalGPT, RouteLLM, HybridLLM — learn when a small model suffices; mostly English, rarely cost-guaranteed.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Conformal control.</a:t>
            </a:r>
            <a:r>
              <a:rPr sz="1700">
                <a:solidFill>
                  <a:srgbClr val="333333"/>
                </a:solidFill>
              </a:rPr>
              <a:t>  Learn-Then-Test (Angelopoulos et al.) and Conformal Risk Control give finite-sample error budgets over thresholds.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Bandit routing.</a:t>
            </a:r>
            <a:r>
              <a:rPr sz="1700">
                <a:solidFill>
                  <a:srgbClr val="333333"/>
                </a:solidFill>
              </a:rPr>
              <a:t>  Contextual bandits directly optimise cost-vs-quality per query — the right formalism for single-step routing.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Missing piece.</a:t>
            </a:r>
            <a:r>
              <a:rPr sz="1700">
                <a:solidFill>
                  <a:srgbClr val="333333"/>
                </a:solidFill>
              </a:rPr>
              <a:t>  Nothing combines all three for Hinglish: script-mixed, entity-dense, price-sensitive traffic.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0000"/>
            <a:ext cx="1688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ECCEA"/>
                </a:solidFill>
              </a:defRPr>
            </a:pPr>
            <a:r>
              <a:t>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600000"/>
            <a:ext cx="168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Proposed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87000"/>
            <a:ext cx="1548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Token Optimisation  •  Guide: Sonali Agrawal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0000" y="3400000"/>
            <a:ext cx="3137600" cy="1800000"/>
          </a:xfrm>
          <a:prstGeom prst="roundRect">
            <a:avLst/>
          </a:prstGeom>
          <a:solidFill>
            <a:srgbClr val="DDEBF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Compress</a:t>
            </a:r>
            <a:br/>
            <a:r>
              <a:t>35% fewer tokens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57600" y="4150000"/>
            <a:ext cx="240000" cy="30000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97600" y="3400000"/>
            <a:ext cx="3137600" cy="1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Score</a:t>
            </a:r>
            <a:br/>
            <a:r>
              <a:t>d(x) difficulty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335200" y="4150000"/>
            <a:ext cx="240000" cy="30000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575200" y="3400000"/>
            <a:ext cx="3137600" cy="1800000"/>
          </a:xfrm>
          <a:prstGeom prst="roundRect">
            <a:avLst/>
          </a:prstGeom>
          <a:solidFill>
            <a:srgbClr val="DDEBF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Calibrate</a:t>
            </a:r>
            <a:br/>
            <a:r>
              <a:t>τ* sweet spot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712800" y="4150000"/>
            <a:ext cx="240000" cy="30000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952800" y="3400000"/>
            <a:ext cx="3137600" cy="1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Route</a:t>
            </a:r>
            <a:br/>
            <a:r>
              <a:t>cheap / premium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090400" y="4150000"/>
            <a:ext cx="240000" cy="300000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4330400" y="3400000"/>
            <a:ext cx="3137600" cy="1800000"/>
          </a:xfrm>
          <a:prstGeom prst="roundRect">
            <a:avLst/>
          </a:prstGeom>
          <a:solidFill>
            <a:srgbClr val="DDEBF7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F4E79"/>
                </a:solidFill>
              </a:defRPr>
            </a:pPr>
            <a:r>
              <a:t>Receipt</a:t>
            </a:r>
            <a:br/>
            <a:r>
              <a:t>audit + saving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0000" y="5700000"/>
            <a:ext cx="16488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595959"/>
                </a:solidFill>
              </a:defRPr>
            </a:pPr>
            <a:r>
              <a:t>d(x) = 0.40 code-mix + 0.30 entity + 0.20 math + 0.10 length  →  learned scorer  →  route cheap iff score &lt; τ*.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0000"/>
            <a:ext cx="1688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ECCEA"/>
                </a:solidFill>
              </a:defRPr>
            </a:pPr>
            <a:r>
              <a:t>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600000"/>
            <a:ext cx="168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Pillar 1 — Lossless Compression  (Tushar Saharan)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87000"/>
            <a:ext cx="1548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Token Optimisation  •  Guide: Sonali Agrawal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00000"/>
            <a:ext cx="16488000" cy="71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Entity-safe pruning.</a:t>
            </a:r>
            <a:r>
              <a:rPr sz="1700">
                <a:solidFill>
                  <a:srgbClr val="333333"/>
                </a:solidFill>
              </a:rPr>
              <a:t>  Regex masks emails, phones, amounts, math and code spans; compress around them; restore verbatim (fail-closed).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Task reward.</a:t>
            </a:r>
            <a:r>
              <a:rPr sz="1700">
                <a:solidFill>
                  <a:srgbClr val="333333"/>
                </a:solidFill>
              </a:rPr>
              <a:t>  Reward = 0.7 answer-fidelity + 0.3 faithfulness — optimise correctness, not perplexity.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Controlled aggressiveness.</a:t>
            </a:r>
            <a:r>
              <a:rPr sz="1700">
                <a:solidFill>
                  <a:srgbClr val="333333"/>
                </a:solidFill>
              </a:rPr>
              <a:t>  Conformal Risk Control picks the max compression whose expected fidelity loss stays within budget α.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0000"/>
            <a:ext cx="1688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ECCEA"/>
                </a:solidFill>
              </a:defRPr>
            </a:pPr>
            <a:r>
              <a:t>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600000"/>
            <a:ext cx="168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Pillar 2 — The Sweet Spot  (Shivam Kumar)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87000"/>
            <a:ext cx="1548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Token Optimisation  •  Guide: Sonali Agrawal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00000"/>
            <a:ext cx="16488000" cy="71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α-sweep.</a:t>
            </a:r>
            <a:r>
              <a:rPr sz="1700">
                <a:solidFill>
                  <a:srgbClr val="333333"/>
                </a:solidFill>
              </a:rPr>
              <a:t>  Refit τ* across error budgets; cheap-share vs risk curve exposes diminishing returns.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Knee detection.</a:t>
            </a:r>
            <a:r>
              <a:rPr sz="1700">
                <a:solidFill>
                  <a:srgbClr val="333333"/>
                </a:solidFill>
              </a:rPr>
              <a:t>  Max-curvature point on the curve = the operating sweet spot: cheapest routing before risk climbs.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Mondrian calibration.</a:t>
            </a:r>
            <a:r>
              <a:rPr sz="1700">
                <a:solidFill>
                  <a:srgbClr val="333333"/>
                </a:solidFill>
              </a:rPr>
              <a:t>  Separate thresholds per code-mix bucket (low / mid / high) so heavy Hinglish isn't subsidised by easy English.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0000"/>
            <a:ext cx="1688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ECCEA"/>
                </a:solidFill>
              </a:defRPr>
            </a:pPr>
            <a:r>
              <a:t>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600000"/>
            <a:ext cx="168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Pillar 3 — Learned Routing  (Sahil Gupta)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87000"/>
            <a:ext cx="1548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Token Optimisation  •  Guide: Sonali Agrawal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00000"/>
            <a:ext cx="16488000" cy="718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From heuristic to learned.</a:t>
            </a:r>
            <a:r>
              <a:rPr sz="1700">
                <a:solidFill>
                  <a:srgbClr val="333333"/>
                </a:solidFill>
              </a:rPr>
              <a:t>  MiniLM + difficulty features → P(fail | x) via LogReg / XGBoost; bandit head optimises cost − λ·failure directly.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Tiers.</a:t>
            </a:r>
            <a:r>
              <a:rPr sz="1700">
                <a:solidFill>
                  <a:srgbClr val="333333"/>
                </a:solidFill>
              </a:rPr>
              <a:t>  Cheap gpt-oss-20B vs premium-proxy gpt-oss-120B (free tier; flagship pricing in production design).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Safe vs pure.</a:t>
            </a:r>
            <a:r>
              <a:rPr sz="1700">
                <a:solidFill>
                  <a:srgbClr val="333333"/>
                </a:solidFill>
              </a:rPr>
              <a:t>  Same policy, two thresholds: reward-optimal (pure RL) vs LTT-certified τ* (guaranteed) — the price of safety is measured, not assumed.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0000"/>
            <a:ext cx="1688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ECCEA"/>
                </a:solidFill>
              </a:defRPr>
            </a:pPr>
            <a:r>
              <a:t>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600000"/>
            <a:ext cx="168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Results  [DRAFT — refreshes from eval]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87000"/>
            <a:ext cx="1548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Token Optimisation  •  Guide: Sonali Agrawal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0000" y="2300000"/>
          <a:ext cx="16488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2000"/>
                <a:gridCol w="4122000"/>
                <a:gridCol w="4122000"/>
                <a:gridCol w="4122000"/>
              </a:tblGrid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Heuristic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Learned (safe)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Pure RL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Cheap-share @ α=0.05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Realized error [95% CI]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Saving vs all-premium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000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F4E79"/>
                          </a:solidFill>
                        </a:rPr>
                        <a:t>AUROC (fail prediction)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DDEB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0000" y="6800000"/>
            <a:ext cx="164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595959"/>
                </a:solidFill>
              </a:defRPr>
            </a:pPr>
            <a:r>
              <a:t>n = 1200 Groq-labelled queries (794 / 203 / 203 splits), human-validated. CIs via 1000x bootstrap.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60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00000" y="120000"/>
            <a:ext cx="16888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AECCEA"/>
                </a:solidFill>
              </a:defRPr>
            </a:pPr>
            <a:r>
              <a:t>TOKEN OPTIMISATION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0000" y="600000"/>
            <a:ext cx="16888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</a:defRPr>
            </a:pPr>
            <a:r>
              <a:t>Conclusion, Limitations &amp;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9587000"/>
            <a:ext cx="15488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95959"/>
                </a:solidFill>
              </a:defRPr>
            </a:pPr>
            <a:r>
              <a:t>Token Optimisation  •  Guide: Sonali Agrawal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000000"/>
            <a:ext cx="16488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Contribution.</a:t>
            </a:r>
            <a:r>
              <a:rPr sz="1700">
                <a:solidFill>
                  <a:srgbClr val="333333"/>
                </a:solidFill>
              </a:rPr>
              <a:t>  First calibrated cascade router for Hinglish: ~35% fewer tokens, majority-cheap routing, ≤5% error with proof.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Limits.</a:t>
            </a:r>
            <a:r>
              <a:rPr sz="1700">
                <a:solidFill>
                  <a:srgbClr val="333333"/>
                </a:solidFill>
              </a:rPr>
              <a:t>  Proxy tiers (not GPT-4o), 1200-query pilot, CPU-only training — all disclosed, all queued as future work.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sz="1700" b="1">
                <a:solidFill>
                  <a:srgbClr val="1F4E79"/>
                </a:solidFill>
              </a:rPr>
              <a:t>▸  Next.</a:t>
            </a:r>
            <a:r>
              <a:rPr sz="1700">
                <a:solidFill>
                  <a:srgbClr val="333333"/>
                </a:solidFill>
              </a:rPr>
              <a:t>  DistilBERT router, flagship premium, live pilot deployment.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0000" y="7387000"/>
            <a:ext cx="5229333" cy="36000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</a:rPr>
              <a:t>Tushar Saharan</a:t>
            </a:r>
          </a:p>
          <a:p>
            <a:pPr algn="ctr"/>
            <a:r>
              <a:rPr sz="1400">
                <a:solidFill>
                  <a:srgbClr val="333333"/>
                </a:solidFill>
              </a:rPr>
              <a:t>Compression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29333" y="7387000"/>
            <a:ext cx="5229333" cy="36000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</a:rPr>
              <a:t>Shivam Kumar</a:t>
            </a:r>
          </a:p>
          <a:p>
            <a:pPr algn="ctr"/>
            <a:r>
              <a:rPr sz="1400">
                <a:solidFill>
                  <a:srgbClr val="333333"/>
                </a:solidFill>
              </a:rPr>
              <a:t>Sweet-spot calibration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158666" y="7387000"/>
            <a:ext cx="5229333" cy="3600000"/>
          </a:xfrm>
          <a:prstGeom prst="roundRect">
            <a:avLst/>
          </a:prstGeom>
          <a:solidFill>
            <a:srgbClr val="DDEBF7"/>
          </a:solidFill>
          <a:ln w="1905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1F4E79"/>
                </a:solidFill>
              </a:rPr>
              <a:t>Sahil Gupta</a:t>
            </a:r>
          </a:p>
          <a:p>
            <a:pPr algn="ctr"/>
            <a:r>
              <a:rPr sz="1400">
                <a:solidFill>
                  <a:srgbClr val="333333"/>
                </a:solidFill>
              </a:rPr>
              <a:t>Learned routing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